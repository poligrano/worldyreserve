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57" r:id="rId4"/>
    <p:sldId id="259" r:id="rId5"/>
    <p:sldId id="27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1" r:id="rId14"/>
    <p:sldId id="273" r:id="rId15"/>
    <p:sldId id="267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88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762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4C1E1-9F6C-8188-FDF0-DF0049CA7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9BD5B-4662-DE55-67F8-88BB0097D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790A9-E74A-1299-272F-C9DA1B3B4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B7365-2BFA-8F90-7A66-9B9E03CECA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45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73B4-398A-0E01-300A-6D28FE960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B235C-C268-2559-E1FF-3E481B824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1E667-081A-FA03-F1DF-A67EB9C2A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066B4-A372-48BD-AA0F-71B0E0DE94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17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2E14-F676-E14F-4322-6CDA061B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0B6E3C-A084-3B5B-0393-C3FF40008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F577A-29EB-7766-0A8A-E997F9F40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284BE-C08E-F438-7D32-EF74ACDA59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01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82EA9-922F-145D-B3DA-C744ACE6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33A32-DAE2-B744-42C4-C25A4ED28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B4228-9EB6-E45F-1EDD-1BD6A0173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D3AB8-582E-ADF1-F738-E9ADE8D54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441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emanuele.debernardi1/5BIN-sicignano-projec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492240" y="-640080"/>
            <a:ext cx="4114800" cy="4114800"/>
          </a:xfrm>
          <a:prstGeom prst="ellipse">
            <a:avLst/>
          </a:prstGeom>
          <a:solidFill>
            <a:srgbClr val="2E86AB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TPSIT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Web-App per la </a:t>
            </a:r>
            <a:r>
              <a:rPr lang="en-US" sz="15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prenotazione</a:t>
            </a:r>
            <a:r>
              <a:rPr lang="en-US" sz="15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Hotel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201168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Sicignano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11480" y="64008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621792" cy="11887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621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Descrizione</a:t>
            </a: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3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Descrizione e obiettivi del progetto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621792" cy="11887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709160" y="1097280"/>
            <a:ext cx="621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12801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691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e URI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esposti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50592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621792" cy="11887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74320" y="2450592"/>
            <a:ext cx="621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6334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0449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E-R,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logico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utilizzate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50592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709160" y="2450592"/>
            <a:ext cx="621792" cy="11887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709160" y="2450592"/>
            <a:ext cx="621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26334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30449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utilizzate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Mockup e Versioning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803904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274320" y="3803904"/>
            <a:ext cx="621792" cy="11887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274320" y="3803904"/>
            <a:ext cx="621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5840" y="39867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39826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5"/>
                </a:solidFill>
                <a:latin typeface="Calibri" pitchFamily="34" charset="0"/>
                <a:cs typeface="Calibri" pitchFamily="34" charset="-120"/>
              </a:rPr>
              <a:t>Linee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cs typeface="Calibri" pitchFamily="34" charset="-120"/>
              </a:rPr>
              <a:t>guida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cs typeface="Calibri" pitchFamily="34" charset="-120"/>
              </a:rPr>
              <a:t>europee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803904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709160" y="3803904"/>
            <a:ext cx="621792" cy="11887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709160" y="3803904"/>
            <a:ext cx="621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40680" y="398678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39826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raggiunti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espansioni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Descrizione del Progetto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dell'applicazione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3035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4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Web-App che simula la prenotazione di stanze d'hotel, </a:t>
            </a:r>
            <a:r>
              <a:rPr lang="en-US" sz="13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utilizzando</a:t>
            </a: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dati </a:t>
            </a:r>
            <a:r>
              <a:rPr lang="en-US" sz="13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geografici</a:t>
            </a: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le API open source di OpenStreetMap per il </a:t>
            </a:r>
            <a:r>
              <a:rPr lang="en-US" sz="13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recupero</a:t>
            </a: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3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informazioni</a:t>
            </a: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sui Points of Interest (POI).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Web-App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segue il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View Controller (MVC)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4846320" cy="833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IntelliJ IDEA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MariaDB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Tomcat Server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NPM (node)</a:t>
            </a:r>
          </a:p>
        </p:txBody>
      </p:sp>
      <p:sp>
        <p:nvSpPr>
          <p:cNvPr id="14" name="Text 12"/>
          <p:cNvSpPr/>
          <p:nvPr/>
        </p:nvSpPr>
        <p:spPr>
          <a:xfrm>
            <a:off x="5989320" y="1143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98932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989320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3611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989320" y="4114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MVC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4612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461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2648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933063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utente. JSP compilate lato server con session filtering integrato.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46120" y="3933063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richieste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HTTP. Ogni Servlet risponde ad un URI e implementa i metodi REST.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26480" y="3933063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persistenza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dati. Procedure, trigger ed eventi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garantiscono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l’integrità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914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70258F2B-33BA-6684-1053-94B0A2616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991" y="758952"/>
            <a:ext cx="6262018" cy="31349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9652AF-C577-2C23-3B98-5C945F756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D3B1D6-4047-4DD9-EE11-55F5D68CDD39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70583E-FF17-6272-2ED5-6ADA49F911AF}"/>
              </a:ext>
            </a:extLst>
          </p:cNvPr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- </a:t>
            </a:r>
            <a:r>
              <a:rPr lang="en-US" sz="26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E-R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1A8AA7-529A-1057-1428-385017C71452}"/>
              </a:ext>
            </a:extLst>
          </p:cNvPr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database MariaDB</a:t>
            </a:r>
            <a:endParaRPr lang="en-US" sz="1300" dirty="0"/>
          </a:p>
        </p:txBody>
      </p:sp>
      <p:pic>
        <p:nvPicPr>
          <p:cNvPr id="38" name="Immagine 37">
            <a:extLst>
              <a:ext uri="{FF2B5EF4-FFF2-40B4-BE49-F238E27FC236}">
                <a16:creationId xmlns:a16="http://schemas.microsoft.com/office/drawing/2014/main" id="{6C1A19E8-6101-A0AD-B231-1DD1DE4B65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72" t="13030" r="21742" b="41716"/>
          <a:stretch>
            <a:fillRect/>
          </a:stretch>
        </p:blipFill>
        <p:spPr>
          <a:xfrm>
            <a:off x="2427718" y="950976"/>
            <a:ext cx="4288563" cy="402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3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- </a:t>
            </a:r>
            <a:r>
              <a:rPr lang="en-US" sz="26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database MariaDB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64008" cy="80467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9436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pubblici dell'utente (nome, cognome, pfp)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48256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64008" cy="80467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4360" y="2112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users_email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4323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separata (pseudonimizzazione GDPR)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64008" cy="80467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94360" y="3063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users_pass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one way della password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50208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365760" y="3950208"/>
            <a:ext cx="64008" cy="80467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94360" y="40142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users_verify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43342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Codici UUID di verifica email con scadenza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09728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800600" y="1097280"/>
            <a:ext cx="64008" cy="80467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02920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users_pass_change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Codici di cambio password con scadenza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048256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800600" y="2048256"/>
            <a:ext cx="64008" cy="80467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029200" y="2112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users_poi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24323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Relazioni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POI (like e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preferiti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999232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4800600" y="2999232"/>
            <a:ext cx="64008" cy="80467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5029200" y="3063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users_poi_comment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Commenti lasciati dagli utenti ai POI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950208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4800600" y="3950208"/>
            <a:ext cx="64008" cy="80467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5029200" y="40142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users_reserve_poi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0" y="43342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Prenotazioni: start, end, con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</a:t>
            </a:r>
            <a:r>
              <a:rPr lang="en-US" sz="11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- Funzioni del Database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Procedure, eventi e trigger per integrità e sicurezza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155448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5087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purge_unused_code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rimuove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codici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cambio password scaduti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98424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purge_non_verified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account non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 i relativi codici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64008" cy="15544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</a:t>
            </a:r>
            <a:r>
              <a:rPr lang="en-US" sz="14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" y="32461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INSERT_NORMAL_USER –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inserisce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nuovo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garantendo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l’integrità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referenziale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 password, email e profilo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3721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VERIFY_USER -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un’email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ritorna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(trovato/non trovato/trovato ma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scaduto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114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64008" cy="8686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66928" y="419709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" y="457200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check_reservation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garantisce che le prenotazioni per lo stesso POI non si sovrappongano nel tempo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Tecniche adottate per la conformità al GDPR europeo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64008" cy="109728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Pseudonimizzazione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81912"/>
            <a:ext cx="7955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informazioni </a:t>
            </a:r>
            <a:r>
              <a:rPr lang="en-US" sz="12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</a:t>
            </a:r>
            <a:r>
              <a:rPr lang="en-US" sz="12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12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</a:t>
            </a:r>
            <a:r>
              <a:rPr lang="en-US" sz="12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</a:t>
            </a:r>
            <a:r>
              <a:rPr lang="en-US" sz="12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separate </a:t>
            </a:r>
            <a:r>
              <a:rPr lang="en-US" sz="12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2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</a:t>
            </a:r>
            <a:r>
              <a:rPr lang="en-US" sz="12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</a:t>
            </a:r>
            <a:r>
              <a:rPr lang="en-US" sz="12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Ogni dato identificativo è sostituito da un “alias”, rendendo difficile la </a:t>
            </a:r>
            <a:r>
              <a:rPr lang="en-US" sz="12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profilazione</a:t>
            </a:r>
            <a:r>
              <a:rPr lang="en-US" sz="12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64008" cy="10972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Minimizzazione dei dati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862072"/>
            <a:ext cx="7955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Vengono richieste all'utente solo le informazioni strettamente necessarie al funzionamento del servizio, in linea con il principio di data minimization del GDPR.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64008" cy="10972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94360" y="37947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delle password (scrypt)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142232"/>
            <a:ext cx="7955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password in chiaro non viene mai salvata. Viene applicato l'algoritmo scrypt con salt casuale, generando un fingerprint one-way resistente ad attacchi brute force.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- Controller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delle Servlet Java su Tomcat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64008" cy="37490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funzionano le Servlet?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Servlet è associata ad un URI specifico.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2311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agisce da Container e gestisce il ciclo di vita dei thread.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metodi HTTP (GET, POST, DELETE) determinano il comportamento.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4381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Filtering integrato: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impedisce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l’accesso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autorizzato.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0416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classi Helper (ServletHelper, MailHelper)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evitano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duplicazione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codice.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06908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64008" cy="111556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Entità DB trasposte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POIMeta, UserPOIMeta, Comment - convertite in JSON per la View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395728"/>
            <a:ext cx="406908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709160" y="2395728"/>
            <a:ext cx="64008" cy="11155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93776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 Helper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852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ServletHelper</a:t>
            </a:r>
            <a:r>
              <a:rPr lang="en-US" sz="115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MailHelper, HashHelper, GoogleHelper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3694176"/>
            <a:ext cx="406908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709160" y="3694176"/>
            <a:ext cx="64008" cy="111556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937760" y="3785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 Oggetto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41513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DBConnection, Fetch, </a:t>
            </a:r>
            <a:r>
              <a:rPr lang="en-US" sz="115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RequestManager</a:t>
            </a:r>
            <a:r>
              <a:rPr lang="en-US" sz="115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da istanziare prima dell'uso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 Esposti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del middleware e metodi HTTP supportati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860142"/>
              </p:ext>
            </p:extLst>
          </p:nvPr>
        </p:nvGraphicFramePr>
        <p:xfrm>
          <a:off x="365760" y="1051560"/>
          <a:ext cx="8412480" cy="3931917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/signin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GET, 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Registrazione utenti con invio email di verifica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Autenticazione e creazione sessione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/google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Login/registrazione OAuth2 con validazione JWT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Caricamento dati utente per la mappa principale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/getmeta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Metadati POI (like, commenti, relazioni) in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/updatemeta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GET, POST, 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Aggiornamento like, salvataggi e commenti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/reserve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GET, 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Creazione ed eliminazione prenotazioni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GET, 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 password via codice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/changeprofile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GET, 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 dati profilo e foto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Invio foto profilo come stream binario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- 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 e ottimizzazioni del layer di presentazione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64008" cy="18288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 principali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(“compilate” a HTML)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bundled con Webpack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2311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OpenLayers per mappe interattive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per I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64008" cy="1783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OpenStreetMap utilizzate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493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</a:t>
            </a:r>
            <a:r>
              <a:rPr lang="en-US" sz="1150" i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/reverse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info da coordinate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</a:t>
            </a:r>
            <a:r>
              <a:rPr lang="en-US" sz="1150" i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testuale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</a:t>
            </a:r>
            <a:r>
              <a:rPr lang="en-US" sz="1150" i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/lookup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info da OSM ID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4425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- query strutturate (QL)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06908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709160" y="1097280"/>
            <a:ext cx="64008" cy="3703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Ottimizzazioni implementate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delle query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8745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geografici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difficilmente cambiano,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vengono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cachati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lato client per ridurre le query esterne.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update relazioni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9260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e salvataggi vengono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aggiornati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lato server solo alla chiusura del popup. Le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modifiche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vengono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salvate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locale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dando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l’illusione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responsività immediata all'utente.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3776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dinamica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776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query Overpass sono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limitate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visibile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 buffer proporzionale allo zoom.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C990F-8263-6176-F190-688E0F48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ECBEB5-4ECF-DA57-4547-106169C4B086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9B9227-3385-4CFF-84C8-C0F8A496E9BF}"/>
              </a:ext>
            </a:extLst>
          </p:cNvPr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- View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61138A-AD4C-9BEB-F0F2-4EA1990BEE4D}"/>
              </a:ext>
            </a:extLst>
          </p:cNvPr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della Web-App - </a:t>
            </a: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login (</a:t>
            </a: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index.jsp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endParaRPr lang="en-US" sz="13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4082099-57BA-99B7-7781-A88868257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75" t="17799" r="36036" b="18281"/>
          <a:stretch>
            <a:fillRect/>
          </a:stretch>
        </p:blipFill>
        <p:spPr>
          <a:xfrm>
            <a:off x="3316696" y="1102647"/>
            <a:ext cx="2510608" cy="338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16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E042C-B1C2-0503-CF69-719D19D06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9A78B3-8495-BE40-CAB6-9169B801D1A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6C1176-30FE-2885-721F-FB63E2F456B4}"/>
              </a:ext>
            </a:extLst>
          </p:cNvPr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- View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AF8B86-618C-80D4-4DE4-06E51E7E83C7}"/>
              </a:ext>
            </a:extLst>
          </p:cNvPr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della Web-App - </a:t>
            </a: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map.jsp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48B21927-0FFA-375B-351B-829A7803F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396" y="950976"/>
            <a:ext cx="6935208" cy="404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578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15B41-C48E-8447-109B-99E9AFA2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D7DD81-4AA2-F733-54F0-960D19FA220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3E8652-BB60-9EB2-3A4C-D7DC50CF6477}"/>
              </a:ext>
            </a:extLst>
          </p:cNvPr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- View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AA9326-29CB-F5D3-1243-8114B5049FBE}"/>
              </a:ext>
            </a:extLst>
          </p:cNvPr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della Web-App - </a:t>
            </a: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(Routing mode) (</a:t>
            </a: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map.jsp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42FE0B0-FA7A-DA89-6F09-658315460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000" y="950976"/>
            <a:ext cx="6930000" cy="404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251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del </a:t>
            </a: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</a:t>
            </a:r>
            <a:r>
              <a:rPr lang="en-US" sz="13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6400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e Git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894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/>
              <a:t>Versioning del software </a:t>
            </a:r>
            <a:r>
              <a:rPr lang="en-US" sz="1250" dirty="0" err="1"/>
              <a:t>effettuato</a:t>
            </a:r>
            <a:r>
              <a:rPr lang="en-US" sz="1250" dirty="0"/>
              <a:t> </a:t>
            </a:r>
            <a:r>
              <a:rPr lang="en-US" sz="1250" dirty="0" err="1"/>
              <a:t>tramite</a:t>
            </a:r>
            <a:r>
              <a:rPr lang="en-US" sz="1250" dirty="0"/>
              <a:t> Git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5935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ea typeface="Calibri" pitchFamily="34" charset="-122"/>
                <a:cs typeface="Calibri" pitchFamily="34" charset="-120"/>
              </a:rPr>
              <a:t>Push della repo in remote </a:t>
            </a:r>
            <a:r>
              <a:rPr lang="en-US" sz="1250" dirty="0" err="1">
                <a:ea typeface="Calibri" pitchFamily="34" charset="-122"/>
                <a:cs typeface="Calibri" pitchFamily="34" charset="-120"/>
              </a:rPr>
              <a:t>su</a:t>
            </a:r>
            <a:r>
              <a:rPr lang="en-US" sz="12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Gitlab</a:t>
            </a:r>
            <a:r>
              <a:rPr lang="en-US" sz="125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ea typeface="Calibri" pitchFamily="34" charset="-122"/>
                <a:cs typeface="Calibri" pitchFamily="34" charset="-120"/>
              </a:rPr>
              <a:t>sul</a:t>
            </a:r>
            <a:r>
              <a:rPr lang="en-US" sz="1250" dirty="0">
                <a:ea typeface="Calibri" pitchFamily="34" charset="-122"/>
                <a:cs typeface="Calibri" pitchFamily="34" charset="-120"/>
              </a:rPr>
              <a:t> branch “dev”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2186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96849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17190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2468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32186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396849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992C57B-8CD0-D2D2-7C11-77F52725F295}"/>
              </a:ext>
            </a:extLst>
          </p:cNvPr>
          <p:cNvSpPr txBox="1"/>
          <p:nvPr/>
        </p:nvSpPr>
        <p:spPr>
          <a:xfrm>
            <a:off x="6063175" y="21382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6DD22E88-DF52-5C75-00B4-D9C69A1E4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1687955"/>
            <a:ext cx="3733800" cy="1270000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C77131DE-1B32-8480-C1C5-5801E7F57B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1560" y="3451872"/>
            <a:ext cx="3749040" cy="8137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217920" y="1645920"/>
            <a:ext cx="4114800" cy="4114800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</a:t>
            </a:r>
            <a:r>
              <a:rPr lang="en-US" sz="14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raggiunti</a:t>
            </a:r>
            <a:r>
              <a:rPr lang="en-US" sz="14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</a:t>
            </a:r>
            <a:r>
              <a:rPr lang="en-US" sz="14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espansioni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164592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o con OAuth2 (Google)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4414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interattiva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tramite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OpenLayers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OpenStreetMap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8254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Interazione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 (like,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commenti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visualizzazione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strada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migliore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raggiungerli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(OSRM)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20954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Pseudonimizzazione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hashing della password (feature di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GDPR)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Miglioramenti futuri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025009"/>
            <a:ext cx="5486400" cy="707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Navigazione</a:t>
            </a: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tempo </a:t>
            </a: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endParaRPr lang="en-US" sz="1200" dirty="0">
              <a:solidFill>
                <a:srgbClr val="8FA8C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</a:t>
            </a: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avanzati</a:t>
            </a: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</a:t>
            </a: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</a:t>
            </a: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hotel (</a:t>
            </a: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tramite</a:t>
            </a: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di </a:t>
            </a: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terze</a:t>
            </a: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Miglioramento</a:t>
            </a: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dell’interfaccia</a:t>
            </a: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prenotazione</a:t>
            </a:r>
            <a:endParaRPr lang="en-US" sz="1200" dirty="0">
              <a:solidFill>
                <a:srgbClr val="8FA8C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Maggior</a:t>
            </a: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</a:t>
            </a: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proprio </a:t>
            </a:r>
            <a:r>
              <a:rPr lang="en-US" sz="1200" dirty="0" err="1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1036</Words>
  <Application>Microsoft Macintosh PowerPoint</Application>
  <PresentationFormat>Presentazione su schermo (16:9)</PresentationFormat>
  <Paragraphs>182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TPSIT</dc:title>
  <dc:subject>PptxGenJS Presentation</dc:subject>
  <dc:creator>Alessandro Sicignano</dc:creator>
  <cp:lastModifiedBy>sicignano alessandro</cp:lastModifiedBy>
  <cp:revision>14</cp:revision>
  <dcterms:created xsi:type="dcterms:W3CDTF">2026-06-03T22:47:41Z</dcterms:created>
  <dcterms:modified xsi:type="dcterms:W3CDTF">2026-06-05T08:18:03Z</dcterms:modified>
</cp:coreProperties>
</file>